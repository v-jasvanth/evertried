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Host Grotesk Medium" panose="020B0604020202020204" charset="0"/>
      <p:regular r:id="rId13"/>
    </p:embeddedFont>
    <p:embeddedFont>
      <p:font typeface="Roboto" panose="02000000000000000000" pitchFamily="2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531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5573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EverTried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973467"/>
            <a:ext cx="7556421" cy="1711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No Middlemen, Just Work</a:t>
            </a:r>
            <a:endParaRPr lang="en-US" sz="5350" dirty="0"/>
          </a:p>
        </p:txBody>
      </p:sp>
      <p:sp>
        <p:nvSpPr>
          <p:cNvPr id="5" name="Text 2"/>
          <p:cNvSpPr/>
          <p:nvPr/>
        </p:nvSpPr>
        <p:spPr>
          <a:xfrm>
            <a:off x="6280190" y="4982766"/>
            <a:ext cx="755642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AI-Powered Hyperlocal Job Matching Platform</a:t>
            </a: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Connecting India's blue-collar workforce directly to employers, eliminating exploitation, and building trust at scale.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280190" y="5808940"/>
            <a:ext cx="1578412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7" name="Text 4"/>
          <p:cNvSpPr/>
          <p:nvPr/>
        </p:nvSpPr>
        <p:spPr>
          <a:xfrm>
            <a:off x="6399252" y="5868472"/>
            <a:ext cx="1340287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HACKATHON 2024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957780" y="5801320"/>
            <a:ext cx="1402675" cy="372547"/>
          </a:xfrm>
          <a:prstGeom prst="roundRect">
            <a:avLst>
              <a:gd name="adj" fmla="val 17900"/>
            </a:avLst>
          </a:prstGeom>
          <a:noFill/>
          <a:ln w="7620">
            <a:solidFill>
              <a:srgbClr val="95CC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84463" y="5868472"/>
            <a:ext cx="1149310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IMPACT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459635" y="5801320"/>
            <a:ext cx="967264" cy="372547"/>
          </a:xfrm>
          <a:prstGeom prst="roundRect">
            <a:avLst>
              <a:gd name="adj" fmla="val 17900"/>
            </a:avLst>
          </a:prstGeom>
          <a:noFill/>
          <a:ln w="7620">
            <a:solidFill>
              <a:srgbClr val="95CC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86317" y="5868472"/>
            <a:ext cx="71389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+ TECH</a:t>
            </a:r>
            <a:endParaRPr lang="en-US" sz="12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30169B-77F8-5790-2246-A8CC13BF5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2785" y="7701977"/>
            <a:ext cx="2129742" cy="5276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19601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Human Cost of a Broken System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577846" y="2380655"/>
            <a:ext cx="725876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construction worker spends his entire morning traveling to labor nakas, only to return home empty-handed — no work, no income, no dignity."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2157413"/>
            <a:ext cx="22860" cy="1041797"/>
          </a:xfrm>
          <a:prstGeom prst="rect">
            <a:avLst/>
          </a:prstGeom>
          <a:solidFill>
            <a:srgbClr val="95CCDA"/>
          </a:solidFill>
          <a:ln/>
        </p:spPr>
      </p:sp>
      <p:sp>
        <p:nvSpPr>
          <p:cNvPr id="6" name="Text 3"/>
          <p:cNvSpPr/>
          <p:nvPr/>
        </p:nvSpPr>
        <p:spPr>
          <a:xfrm>
            <a:off x="6280190" y="3422452"/>
            <a:ext cx="7556421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day, millions of blue-collar workers across India face this reality. Without a reliable system to connect them to employers, they depend on middlemen who exploit their desperation, charge commissions, and often provide fake or misleading job leads. </a:t>
            </a: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EverTried was built to change this.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280190" y="4836319"/>
            <a:ext cx="3679031" cy="1436489"/>
          </a:xfrm>
          <a:prstGeom prst="roundRect">
            <a:avLst>
              <a:gd name="adj" fmla="val 580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86168" y="50422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🔍</a:t>
            </a: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No Visibility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486168" y="5471517"/>
            <a:ext cx="326707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Workers have no way to discover nearby jobs without physical travel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0157579" y="4836319"/>
            <a:ext cx="3679031" cy="1436489"/>
          </a:xfrm>
          <a:prstGeom prst="roundRect">
            <a:avLst>
              <a:gd name="adj" fmla="val 580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63557" y="50422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💸</a:t>
            </a: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Exploitation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363557" y="5471517"/>
            <a:ext cx="326707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Middlemen extract commissions from already low wages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80190" y="6471166"/>
            <a:ext cx="7556421" cy="1138833"/>
          </a:xfrm>
          <a:prstGeom prst="roundRect">
            <a:avLst>
              <a:gd name="adj" fmla="val 732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86168" y="667714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❌</a:t>
            </a: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No Trust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486168" y="7106364"/>
            <a:ext cx="714446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Fake listings and unverified employers create constant risk</a:t>
            </a:r>
            <a:endParaRPr lang="en-US" sz="15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9273A2-7F6D-5C77-B6AB-62A6CD2C4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2785" y="7701977"/>
            <a:ext cx="2129742" cy="5276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2516"/>
            <a:ext cx="1090362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 Market Full of Gaps — and Zero Real Solutions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2950250"/>
            <a:ext cx="6565106" cy="3246715"/>
          </a:xfrm>
          <a:prstGeom prst="roundRect">
            <a:avLst>
              <a:gd name="adj" fmla="val 4401"/>
            </a:avLst>
          </a:prstGeom>
          <a:solidFill>
            <a:srgbClr val="95CCDA"/>
          </a:solidFill>
          <a:ln/>
        </p:spPr>
      </p:sp>
      <p:sp>
        <p:nvSpPr>
          <p:cNvPr id="4" name="Text 2"/>
          <p:cNvSpPr/>
          <p:nvPr/>
        </p:nvSpPr>
        <p:spPr>
          <a:xfrm>
            <a:off x="849273" y="31486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What Exists Today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49273" y="3657124"/>
            <a:ext cx="6168390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job platforms are built for white-collar professionals. They assume smartphone fluency, English proficiency, and digital literacy — none of which apply to blue-collar workers.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49273" y="4728686"/>
            <a:ext cx="6168390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Passive job boards with no matching logic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verification of employers or workers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Complex UIs that alienate low-literacy users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hyperlocal focus or proximity awareness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148608"/>
            <a:ext cx="328243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What Workers Actually Need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3657124"/>
            <a:ext cx="6279356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India's 400M+ blue-collar workforce needs a system designed </a:t>
            </a:r>
            <a:r>
              <a:rPr lang="en-US" sz="15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them</a:t>
            </a: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one that understands their constraints and removes barriers rather than adding to them.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4728686"/>
            <a:ext cx="6279356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Jobs within 1–5 km of their location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Simple, voice-first or WhatsApp-based access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Verified employers with transparent pay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digital work history they can carry forward</a:t>
            </a:r>
            <a:endParaRPr lang="en-US" sz="15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E5F1FF-7FAF-8E53-4ACB-4E3091331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2785" y="7701977"/>
            <a:ext cx="2129742" cy="5276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9214"/>
            <a:ext cx="888039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Introducing EverTried — Built for Bharat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46127"/>
            <a:ext cx="1304282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EverTried is an AI-powered, hyperlocal job matching platform that eliminates middlemen by connecting workers and employers directly. It is designed for real-world constraints: low digital literacy, regional languages, and limited internet access.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164681"/>
            <a:ext cx="396835" cy="3968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8095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Direct Connection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4238744"/>
            <a:ext cx="639734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Workers and employers interact without intermediaries, cutting costs and building transparency.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144" y="3164681"/>
            <a:ext cx="396835" cy="3968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39144" y="38095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 Smart Matching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439144" y="4238744"/>
            <a:ext cx="6397466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engine matches workers by skills, location radius, and real-time availability — not just keywords.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5230892"/>
            <a:ext cx="396835" cy="3968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58757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Hyperlocal Discovery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793790" y="6304955"/>
            <a:ext cx="639734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Jobs surfaced within 1–5 km using Google Maps API, reducing commute burden for workers.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9144" y="5230892"/>
            <a:ext cx="396835" cy="3968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39144" y="58757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Voice + WhatsApp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439144" y="6304955"/>
            <a:ext cx="6397466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Accessible via voice commands and WhatsApp — no complex app navigation required.</a:t>
            </a:r>
            <a:endParaRPr lang="en-US" sz="15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56664B1-3033-7497-8130-09876A2A79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2785" y="7701977"/>
            <a:ext cx="2129742" cy="5276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462915"/>
            <a:ext cx="7122676" cy="513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Features That Set EverTried Apart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34628" y="1333619"/>
            <a:ext cx="3071932" cy="1668304"/>
          </a:xfrm>
          <a:prstGeom prst="roundRect">
            <a:avLst>
              <a:gd name="adj" fmla="val 6577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68" y="1333619"/>
            <a:ext cx="91440" cy="1668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0374" y="1520785"/>
            <a:ext cx="2366248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Multi-Role Authentication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0374" y="1913692"/>
            <a:ext cx="2629019" cy="901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distinct portals: Worker UI, Employer Dashboard, and Coordinator Panel — each with tailored experiences.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042648" y="1333619"/>
            <a:ext cx="3071932" cy="1668304"/>
          </a:xfrm>
          <a:prstGeom prst="roundRect">
            <a:avLst>
              <a:gd name="adj" fmla="val 6577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788" y="1333619"/>
            <a:ext cx="91440" cy="1668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8394" y="1520785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Instant Hiring System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298394" y="1913692"/>
            <a:ext cx="2629019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Employers post a job and receive matched worker profiles in seconds — no waiting, no browsing.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34628" y="3138011"/>
            <a:ext cx="3071932" cy="1443038"/>
          </a:xfrm>
          <a:prstGeom prst="roundRect">
            <a:avLst>
              <a:gd name="adj" fmla="val 7604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68" y="3138011"/>
            <a:ext cx="91440" cy="14430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0374" y="3325178"/>
            <a:ext cx="2088594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Trust &amp; Rating System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090374" y="3718084"/>
            <a:ext cx="2629019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parties rate each other post-completion, building a verifiable digital reputation over time.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042648" y="3138011"/>
            <a:ext cx="3071932" cy="1443038"/>
          </a:xfrm>
          <a:prstGeom prst="roundRect">
            <a:avLst>
              <a:gd name="adj" fmla="val 7604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9788" y="3138011"/>
            <a:ext cx="91440" cy="14430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98394" y="3325178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Digital Work History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298394" y="3718084"/>
            <a:ext cx="2629019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Workers carry a portable, verifiable record of completed jobs — their most valuable asset.</a:t>
            </a:r>
            <a:endParaRPr lang="en-US" sz="12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3202" y="1333619"/>
            <a:ext cx="6279952" cy="627995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6581BC8-6248-22FA-24C8-A9EA2EA4A2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2785" y="7701977"/>
            <a:ext cx="2129742" cy="5276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24232" y="421362"/>
            <a:ext cx="1150739" cy="195143"/>
          </a:xfrm>
          <a:prstGeom prst="roundRect">
            <a:avLst>
              <a:gd name="adj" fmla="val 21359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2498646" y="458510"/>
            <a:ext cx="1001911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🔥</a:t>
            </a: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Core Innovation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424232" y="647462"/>
            <a:ext cx="3519964" cy="3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Dual Job Routing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424232" y="1151334"/>
            <a:ext cx="9781937" cy="302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EverTried's most powerful differentiator is its intelligent dual routing logic — a system no existing platform offers. Jobs are automatically classified and routed based on complexity and scale.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232" y="1540669"/>
            <a:ext cx="9781937" cy="545961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4232" y="1540669"/>
            <a:ext cx="9781937" cy="545961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34816" y="7087433"/>
            <a:ext cx="4918472" cy="720685"/>
          </a:xfrm>
          <a:prstGeom prst="roundRect">
            <a:avLst>
              <a:gd name="adj" fmla="val 12393"/>
            </a:avLst>
          </a:prstGeom>
          <a:solidFill>
            <a:srgbClr val="95CCDA"/>
          </a:solidFill>
          <a:ln/>
        </p:spPr>
      </p:sp>
      <p:sp>
        <p:nvSpPr>
          <p:cNvPr id="9" name="Text 5"/>
          <p:cNvSpPr/>
          <p:nvPr/>
        </p:nvSpPr>
        <p:spPr>
          <a:xfrm>
            <a:off x="2458760" y="7164943"/>
            <a:ext cx="2249210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Small Jobs → Direct Assignment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458760" y="7436168"/>
            <a:ext cx="4670584" cy="302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single-worker, short-duration tasks (plumbing, delivery, painting), the matching engine assigns the best-fit worker directly — zero overhead, maximum speed.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7474148" y="7164943"/>
            <a:ext cx="2391132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Large Jobs → Coordinator Routing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474148" y="7436168"/>
            <a:ext cx="4739640" cy="302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multi-worker projects (construction, events, logistics), a verified Coordinator is assigned to manage the team, ensuring quality control and accountability at scale.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721CB-8144-2155-180B-E993C36833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2785" y="7701977"/>
            <a:ext cx="2129742" cy="5276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426125"/>
            <a:ext cx="3721298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System Architecture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446014" y="1114544"/>
            <a:ext cx="11738253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EverTried is built on a clean, scalable, three-tier architecture designed for high availability and low-latency matching across India's diverse network conditions.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014" y="1435298"/>
            <a:ext cx="10485120" cy="58521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014" y="1435298"/>
            <a:ext cx="10485120" cy="5852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46014" y="7412950"/>
            <a:ext cx="1173825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layer is independently deployable, enabling horizontal scaling. The AI Matching Engine operates as an optional microservice, allowing the core platform to function even in low-connectivity environments.</a:t>
            </a:r>
            <a:endParaRPr lang="en-US" sz="11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B69EBD-AD21-C107-DBDE-E83D9BE267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2785" y="7701977"/>
            <a:ext cx="2129742" cy="5276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9677" y="395407"/>
            <a:ext cx="4986576" cy="406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End-to-End Application Workflow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179677" y="973217"/>
            <a:ext cx="10271046" cy="161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job posting to completed work, every step is automated, tracked, and verified — ensuring speed for employers and fairness for workers.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677" y="1230987"/>
            <a:ext cx="10271046" cy="573262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9677" y="1230987"/>
            <a:ext cx="10271046" cy="573262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085856" y="7059692"/>
            <a:ext cx="5164336" cy="774383"/>
          </a:xfrm>
          <a:prstGeom prst="roundRect">
            <a:avLst>
              <a:gd name="adj" fmla="val 12110"/>
            </a:avLst>
          </a:prstGeom>
          <a:solidFill>
            <a:srgbClr val="95CCDA"/>
          </a:solidFill>
          <a:ln/>
        </p:spPr>
      </p:sp>
      <p:sp>
        <p:nvSpPr>
          <p:cNvPr id="7" name="Text 3"/>
          <p:cNvSpPr/>
          <p:nvPr/>
        </p:nvSpPr>
        <p:spPr>
          <a:xfrm>
            <a:off x="2215991" y="7145060"/>
            <a:ext cx="1690449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Matching Engine Logic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2215991" y="7433786"/>
            <a:ext cx="4904065" cy="323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Matches are scored across four weighted dimensions: </a:t>
            </a:r>
            <a:r>
              <a:rPr lang="en-US" sz="1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Skills match</a:t>
            </a: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Location radius</a:t>
            </a: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(1–5 km), </a:t>
            </a:r>
            <a:r>
              <a:rPr lang="en-US" sz="1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availability</a:t>
            </a: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sz="1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Past ratings + performance history</a:t>
            </a: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481649" y="7145060"/>
            <a:ext cx="1628061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Notification Pipeline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481649" y="7433786"/>
            <a:ext cx="4976693" cy="323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Matched workers receive instant alerts via </a:t>
            </a: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SMS</a:t>
            </a: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(Fast2SMS/Twilio) and </a:t>
            </a: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Firebase push notifications</a:t>
            </a: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ensuring reach even for users with intermittent internet access.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981FFF-F31B-0CEA-75EA-C100552EA4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2785" y="7701977"/>
            <a:ext cx="2129742" cy="5276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13410"/>
            <a:ext cx="6736913" cy="60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 Stack &amp; Database Design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69025" y="1586627"/>
            <a:ext cx="6453068" cy="2142292"/>
          </a:xfrm>
          <a:prstGeom prst="roundRect">
            <a:avLst>
              <a:gd name="adj" fmla="val 377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12" y="1786414"/>
            <a:ext cx="576739" cy="57673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7403" y="1944886"/>
            <a:ext cx="259556" cy="2595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8812" y="2549366"/>
            <a:ext cx="240339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Frontend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68812" y="2961442"/>
            <a:ext cx="6053495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React.js — Responsive, component-driven UI for Worker, Employer, and Coordinator portals. Deployed on Vercel / Netlify.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408307" y="1586627"/>
            <a:ext cx="6453068" cy="2142292"/>
          </a:xfrm>
          <a:prstGeom prst="roundRect">
            <a:avLst>
              <a:gd name="adj" fmla="val 377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8094" y="1786414"/>
            <a:ext cx="576739" cy="576739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66685" y="1944886"/>
            <a:ext cx="259556" cy="2595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08094" y="2549366"/>
            <a:ext cx="240339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Backend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7608094" y="2961442"/>
            <a:ext cx="6053495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 + Express REST API with modular Auth, Job Management, and Matching Engine services. Deployed on Render / Railway.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769025" y="3915132"/>
            <a:ext cx="6453068" cy="2426137"/>
          </a:xfrm>
          <a:prstGeom prst="roundRect">
            <a:avLst>
              <a:gd name="adj" fmla="val 332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812" y="4114919"/>
            <a:ext cx="576739" cy="576739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7403" y="4273391"/>
            <a:ext cx="259556" cy="25955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68812" y="4877872"/>
            <a:ext cx="240339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Database</a:t>
            </a:r>
            <a:endParaRPr lang="en-US" sz="1850" dirty="0"/>
          </a:p>
        </p:txBody>
      </p:sp>
      <p:sp>
        <p:nvSpPr>
          <p:cNvPr id="17" name="Text 9"/>
          <p:cNvSpPr/>
          <p:nvPr/>
        </p:nvSpPr>
        <p:spPr>
          <a:xfrm>
            <a:off x="968812" y="5289947"/>
            <a:ext cx="6053495" cy="851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MongoDB Atlas with three core collections: </a:t>
            </a: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(role, skills, rating, availability), </a:t>
            </a: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Jobs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(type, location, status), </a:t>
            </a: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Applications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(job-worker mapping).</a:t>
            </a:r>
            <a:endParaRPr lang="en-US" sz="1500" dirty="0"/>
          </a:p>
        </p:txBody>
      </p:sp>
      <p:sp>
        <p:nvSpPr>
          <p:cNvPr id="18" name="Shape 10"/>
          <p:cNvSpPr/>
          <p:nvPr/>
        </p:nvSpPr>
        <p:spPr>
          <a:xfrm>
            <a:off x="7408307" y="3915132"/>
            <a:ext cx="6453068" cy="2426137"/>
          </a:xfrm>
          <a:prstGeom prst="roundRect">
            <a:avLst>
              <a:gd name="adj" fmla="val 332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8094" y="4114919"/>
            <a:ext cx="576739" cy="576739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6685" y="4273391"/>
            <a:ext cx="259556" cy="25955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08094" y="4877872"/>
            <a:ext cx="240339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Integrations</a:t>
            </a:r>
            <a:endParaRPr lang="en-US" sz="1850" dirty="0"/>
          </a:p>
        </p:txBody>
      </p:sp>
      <p:sp>
        <p:nvSpPr>
          <p:cNvPr id="22" name="Text 12"/>
          <p:cNvSpPr/>
          <p:nvPr/>
        </p:nvSpPr>
        <p:spPr>
          <a:xfrm>
            <a:off x="7608094" y="5289947"/>
            <a:ext cx="6053495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Maps API (geolocation), SMS API (Fast2SMS/Twilio), Firebase Cloud Messaging (push notifications).</a:t>
            </a:r>
            <a:endParaRPr lang="en-US" sz="1500" dirty="0"/>
          </a:p>
        </p:txBody>
      </p:sp>
      <p:sp>
        <p:nvSpPr>
          <p:cNvPr id="23" name="Shape 13"/>
          <p:cNvSpPr/>
          <p:nvPr/>
        </p:nvSpPr>
        <p:spPr>
          <a:xfrm>
            <a:off x="769025" y="6550700"/>
            <a:ext cx="13092351" cy="1065490"/>
          </a:xfrm>
          <a:prstGeom prst="roundRect">
            <a:avLst>
              <a:gd name="adj" fmla="val 7579"/>
            </a:avLst>
          </a:prstGeom>
          <a:solidFill>
            <a:srgbClr val="B6D6FC"/>
          </a:solidFill>
          <a:ln/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1192" y="6828353"/>
            <a:ext cx="240268" cy="192167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393627" y="6784896"/>
            <a:ext cx="12275582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Matching Engine:</a:t>
            </a: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lightweight scoring algorithm ranks workers by composite match score — combining skill overlap, proximity, availability window, and historical rating data to surface the best candidate instantly.</a:t>
            </a:r>
            <a:endParaRPr lang="en-US" sz="15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41AC20D-FE22-81EE-4DB7-5ACF0C7E384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42785" y="7701977"/>
            <a:ext cx="2129742" cy="5276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44565" y="453390"/>
            <a:ext cx="5360789" cy="436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Impact, Vision &amp; The Road Ahead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44565" y="1106329"/>
            <a:ext cx="8027670" cy="460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400M+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86148" y="1710095"/>
            <a:ext cx="1744385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Blue-Collar Workers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044565" y="1986915"/>
            <a:ext cx="8027670" cy="17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workforce EverTried is built to serve across India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44565" y="2431137"/>
            <a:ext cx="8027670" cy="460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86148" y="3034903"/>
            <a:ext cx="1744385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Middlemen Fees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44565" y="3311723"/>
            <a:ext cx="8027670" cy="17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connection eliminates exploitative commissions entirely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44565" y="3755946"/>
            <a:ext cx="8027670" cy="460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5km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9186148" y="4359712"/>
            <a:ext cx="1744385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Max Job Radius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044565" y="4636532"/>
            <a:ext cx="8027670" cy="17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Hyperlocal matching reduces commute burden significantly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44565" y="5080754"/>
            <a:ext cx="8027670" cy="460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8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9186148" y="5684520"/>
            <a:ext cx="1744385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SDG Aligned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044565" y="5961340"/>
            <a:ext cx="8027670" cy="17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Sustainable Development Goal: Decent Work &amp; Economic Growth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4195" y="6249948"/>
            <a:ext cx="4044434" cy="1526143"/>
          </a:xfrm>
          <a:prstGeom prst="roundRect">
            <a:avLst>
              <a:gd name="adj" fmla="val 6584"/>
            </a:avLst>
          </a:prstGeom>
          <a:solidFill>
            <a:srgbClr val="95CCDA"/>
          </a:solidFill>
          <a:ln/>
        </p:spPr>
      </p:sp>
      <p:sp>
        <p:nvSpPr>
          <p:cNvPr id="17" name="Text 14"/>
          <p:cNvSpPr/>
          <p:nvPr/>
        </p:nvSpPr>
        <p:spPr>
          <a:xfrm>
            <a:off x="6083737" y="6348055"/>
            <a:ext cx="1744385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Future Roadmap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083737" y="6664166"/>
            <a:ext cx="3765352" cy="994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AI-powered job recommendations based on work history</a:t>
            </a:r>
            <a:endParaRPr lang="en-US" sz="105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In-app payment integration for seamless wage settlement</a:t>
            </a:r>
            <a:endParaRPr lang="en-US" sz="105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Government scheme linkage for worker benefits</a:t>
            </a:r>
            <a:endParaRPr lang="en-US" sz="105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Multilingual + voice-first regional language support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0236160" y="6348055"/>
            <a:ext cx="1744385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Our Commitment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236160" y="6664166"/>
            <a:ext cx="3843695" cy="712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EverTried is not just a job platform — it is a </a:t>
            </a: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scalable ecosystem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empowering millions of workers with dignity, transparency, and economic opportunity. Built for India. Built for Bharat.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0445472" y="7487483"/>
            <a:ext cx="3634383" cy="17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Middlemen. Just Work. Just Opportunity.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0236160" y="7487483"/>
            <a:ext cx="15240" cy="178237"/>
          </a:xfrm>
          <a:prstGeom prst="rect">
            <a:avLst/>
          </a:prstGeom>
          <a:solidFill>
            <a:srgbClr val="95CCDA"/>
          </a:solidFill>
          <a:ln/>
        </p:spPr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F763721-B021-D40B-2A21-12F7F4B83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2785" y="7701977"/>
            <a:ext cx="2129742" cy="5276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1003</Words>
  <Application>Microsoft Office PowerPoint</Application>
  <PresentationFormat>Custom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Roboto</vt:lpstr>
      <vt:lpstr>Host Grotesk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sriram mulukuntla</cp:lastModifiedBy>
  <cp:revision>2</cp:revision>
  <dcterms:created xsi:type="dcterms:W3CDTF">2026-04-18T04:51:36Z</dcterms:created>
  <dcterms:modified xsi:type="dcterms:W3CDTF">2026-04-18T04:55:34Z</dcterms:modified>
</cp:coreProperties>
</file>